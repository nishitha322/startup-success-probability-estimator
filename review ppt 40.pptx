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6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72" r:id="rId6"/>
    <p:sldId id="260" r:id="rId7"/>
    <p:sldId id="273" r:id="rId8"/>
    <p:sldId id="275" r:id="rId9"/>
    <p:sldId id="277" r:id="rId10"/>
    <p:sldId id="281" r:id="rId11"/>
    <p:sldId id="280" r:id="rId12"/>
    <p:sldId id="262" r:id="rId13"/>
    <p:sldId id="263" r:id="rId14"/>
    <p:sldId id="264" r:id="rId15"/>
    <p:sldId id="265" r:id="rId16"/>
    <p:sldId id="266" r:id="rId17"/>
    <p:sldId id="279" r:id="rId18"/>
    <p:sldId id="267" r:id="rId19"/>
    <p:sldId id="282" r:id="rId20"/>
    <p:sldId id="268" r:id="rId21"/>
    <p:sldId id="283" r:id="rId22"/>
    <p:sldId id="269" r:id="rId23"/>
    <p:sldId id="284" r:id="rId24"/>
    <p:sldId id="285" r:id="rId25"/>
    <p:sldId id="286" r:id="rId26"/>
    <p:sldId id="271" r:id="rId27"/>
    <p:sldId id="270" r:id="rId2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3072" autoAdjust="0"/>
  </p:normalViewPr>
  <p:slideViewPr>
    <p:cSldViewPr>
      <p:cViewPr varScale="1">
        <p:scale>
          <a:sx n="48" d="100"/>
          <a:sy n="48" d="100"/>
        </p:scale>
        <p:origin x="62" y="73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5A2D93-FAAC-4E6B-BBC3-483F82F56E6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3C6A1-D03A-4C24-B76C-0CA9D4EEC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954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93C6A1-D03A-4C24-B76C-0CA9D4EECDC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987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41057" y="1077213"/>
            <a:ext cx="4521200" cy="2045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252525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5376545" y="4267136"/>
            <a:ext cx="5897880" cy="1322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252525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52525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rgbClr val="252525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52525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52525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9531" y="0"/>
            <a:ext cx="11768234" cy="26718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2192000" cy="2543175"/>
          </a:xfrm>
          <a:custGeom>
            <a:avLst/>
            <a:gdLst/>
            <a:ahLst/>
            <a:cxnLst/>
            <a:rect l="l" t="t" r="r" b="b"/>
            <a:pathLst>
              <a:path w="12192000" h="2543175">
                <a:moveTo>
                  <a:pt x="12192000" y="0"/>
                </a:moveTo>
                <a:lnTo>
                  <a:pt x="0" y="0"/>
                </a:lnTo>
                <a:lnTo>
                  <a:pt x="0" y="2543175"/>
                </a:lnTo>
                <a:lnTo>
                  <a:pt x="12192000" y="2543175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649075" y="5638800"/>
            <a:ext cx="38100" cy="599440"/>
          </a:xfrm>
          <a:custGeom>
            <a:avLst/>
            <a:gdLst/>
            <a:ahLst/>
            <a:cxnLst/>
            <a:rect l="l" t="t" r="r" b="b"/>
            <a:pathLst>
              <a:path w="38100" h="599439">
                <a:moveTo>
                  <a:pt x="38100" y="0"/>
                </a:moveTo>
                <a:lnTo>
                  <a:pt x="0" y="0"/>
                </a:lnTo>
                <a:lnTo>
                  <a:pt x="0" y="599071"/>
                </a:lnTo>
                <a:lnTo>
                  <a:pt x="38100" y="599071"/>
                </a:lnTo>
                <a:lnTo>
                  <a:pt x="38100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1057" y="855027"/>
            <a:ext cx="9755505" cy="1311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252525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1057" y="2623627"/>
            <a:ext cx="9004935" cy="3287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252525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48475"/>
            <a:chOff x="0" y="0"/>
            <a:chExt cx="12192000" cy="68484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2683" y="0"/>
              <a:ext cx="6235113" cy="661581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115050" y="0"/>
              <a:ext cx="6076950" cy="6848475"/>
            </a:xfrm>
            <a:custGeom>
              <a:avLst/>
              <a:gdLst/>
              <a:ahLst/>
              <a:cxnLst/>
              <a:rect l="l" t="t" r="r" b="b"/>
              <a:pathLst>
                <a:path w="6076950" h="6848475">
                  <a:moveTo>
                    <a:pt x="6076950" y="0"/>
                  </a:moveTo>
                  <a:lnTo>
                    <a:pt x="0" y="0"/>
                  </a:lnTo>
                  <a:lnTo>
                    <a:pt x="0" y="6848475"/>
                  </a:lnTo>
                  <a:lnTo>
                    <a:pt x="6076950" y="6848475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" y="0"/>
              <a:ext cx="11815826" cy="397675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9525"/>
              <a:ext cx="12192000" cy="3543300"/>
            </a:xfrm>
            <a:custGeom>
              <a:avLst/>
              <a:gdLst/>
              <a:ahLst/>
              <a:cxnLst/>
              <a:rect l="l" t="t" r="r" b="b"/>
              <a:pathLst>
                <a:path w="12192000" h="3543300">
                  <a:moveTo>
                    <a:pt x="12192000" y="0"/>
                  </a:moveTo>
                  <a:lnTo>
                    <a:pt x="0" y="0"/>
                  </a:lnTo>
                  <a:lnTo>
                    <a:pt x="0" y="3543300"/>
                  </a:lnTo>
                  <a:lnTo>
                    <a:pt x="12192000" y="35433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xfrm>
            <a:off x="474185" y="1041756"/>
            <a:ext cx="5548098" cy="2046073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6510" marR="5080">
              <a:lnSpc>
                <a:spcPct val="100299"/>
              </a:lnSpc>
              <a:spcBef>
                <a:spcPts val="115"/>
              </a:spcBef>
            </a:pP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</a:t>
            </a:r>
            <a:r>
              <a:rPr lang="en-IN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REPORT&amp;PROJECT </a:t>
            </a:r>
            <a:r>
              <a:rPr b="1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REVIEW-</a:t>
            </a:r>
            <a:r>
              <a:rPr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ubTitle" idx="4"/>
          </p:nvPr>
        </p:nvSpPr>
        <p:spPr>
          <a:xfrm>
            <a:off x="3399338" y="3976751"/>
            <a:ext cx="7924798" cy="219438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1692910" algn="r">
              <a:lnSpc>
                <a:spcPct val="142400"/>
              </a:lnSpc>
              <a:spcBef>
                <a:spcPts val="55"/>
              </a:spcBef>
            </a:pP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</a:t>
            </a:r>
            <a:r>
              <a:rPr sz="20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PERIOD:</a:t>
            </a:r>
            <a:r>
              <a:rPr sz="2000"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15/06/25</a:t>
            </a:r>
            <a:r>
              <a:rPr lang="en-US" sz="2000" b="1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09/08/25</a:t>
            </a:r>
            <a:r>
              <a:rPr lang="en-US" sz="2000" b="1"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en-US" sz="2000" b="1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indent="1692910" algn="r">
              <a:lnSpc>
                <a:spcPct val="142400"/>
              </a:lnSpc>
              <a:spcBef>
                <a:spcPts val="55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C.NICHITHA SREE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-23691A3340-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 CSM</a:t>
            </a:r>
          </a:p>
          <a:p>
            <a:pPr marL="12700" marR="5080" indent="1692910" algn="r">
              <a:lnSpc>
                <a:spcPct val="142400"/>
              </a:lnSpc>
              <a:spcBef>
                <a:spcPts val="55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23691A3340</a:t>
            </a:r>
          </a:p>
          <a:p>
            <a:pPr marL="12700" marR="5080" indent="1692910" algn="r">
              <a:lnSpc>
                <a:spcPct val="142400"/>
              </a:lnSpc>
              <a:spcBef>
                <a:spcPts val="55"/>
              </a:spcBef>
            </a:pPr>
            <a:r>
              <a:rPr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en-US"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18-10-25</a:t>
            </a:r>
            <a:r>
              <a:rPr sz="20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b="1" spc="-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indent="1692910" algn="r">
              <a:lnSpc>
                <a:spcPct val="142400"/>
              </a:lnSpc>
              <a:spcBef>
                <a:spcPts val="55"/>
              </a:spcBef>
            </a:pP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</a:t>
            </a:r>
            <a:r>
              <a:rPr sz="20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MENTOR</a:t>
            </a:r>
            <a:r>
              <a:rPr sz="2000" b="1" spc="-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b="1" spc="-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Dr.S.PRIYA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115050" y="0"/>
            <a:ext cx="6076950" cy="6238240"/>
            <a:chOff x="6115050" y="0"/>
            <a:chExt cx="6076950" cy="623824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15050" y="0"/>
              <a:ext cx="6076569" cy="355282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668125" y="5638800"/>
              <a:ext cx="0" cy="599440"/>
            </a:xfrm>
            <a:custGeom>
              <a:avLst/>
              <a:gdLst/>
              <a:ahLst/>
              <a:cxnLst/>
              <a:rect l="l" t="t" r="r" b="b"/>
              <a:pathLst>
                <a:path h="599439">
                  <a:moveTo>
                    <a:pt x="0" y="0"/>
                  </a:moveTo>
                  <a:lnTo>
                    <a:pt x="0" y="599071"/>
                  </a:lnTo>
                </a:path>
              </a:pathLst>
            </a:custGeom>
            <a:ln w="3810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6684" y="381000"/>
            <a:ext cx="11144250" cy="2662555"/>
            <a:chOff x="0" y="0"/>
            <a:chExt cx="11144250" cy="266255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29" y="0"/>
              <a:ext cx="11025287" cy="266237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1144250" cy="2543175"/>
            </a:xfrm>
            <a:custGeom>
              <a:avLst/>
              <a:gdLst/>
              <a:ahLst/>
              <a:cxnLst/>
              <a:rect l="l" t="t" r="r" b="b"/>
              <a:pathLst>
                <a:path w="11144250" h="2543175">
                  <a:moveTo>
                    <a:pt x="11144250" y="0"/>
                  </a:moveTo>
                  <a:lnTo>
                    <a:pt x="0" y="0"/>
                  </a:lnTo>
                  <a:lnTo>
                    <a:pt x="0" y="2543175"/>
                  </a:lnTo>
                  <a:lnTo>
                    <a:pt x="11144250" y="2543175"/>
                  </a:lnTo>
                  <a:lnTo>
                    <a:pt x="111442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41057" y="855027"/>
            <a:ext cx="9755505" cy="1318951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 marR="5080">
              <a:lnSpc>
                <a:spcPts val="4810"/>
              </a:lnSpc>
              <a:spcBef>
                <a:spcPts val="685"/>
              </a:spcBef>
            </a:pPr>
            <a:r>
              <a:rPr spc="-6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ABOUT</a:t>
            </a:r>
            <a:r>
              <a:rPr spc="-39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pc="-135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INDUSTRY/ORGANIZATION </a:t>
            </a:r>
            <a:r>
              <a:rPr spc="-35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DETAILS</a:t>
            </a:r>
          </a:p>
        </p:txBody>
      </p:sp>
      <p:sp>
        <p:nvSpPr>
          <p:cNvPr id="7" name="object 7"/>
          <p:cNvSpPr/>
          <p:nvPr/>
        </p:nvSpPr>
        <p:spPr>
          <a:xfrm>
            <a:off x="11668125" y="5638800"/>
            <a:ext cx="0" cy="599440"/>
          </a:xfrm>
          <a:custGeom>
            <a:avLst/>
            <a:gdLst/>
            <a:ahLst/>
            <a:cxnLst/>
            <a:rect l="l" t="t" r="r" b="b"/>
            <a:pathLst>
              <a:path h="599439">
                <a:moveTo>
                  <a:pt x="0" y="0"/>
                </a:moveTo>
                <a:lnTo>
                  <a:pt x="0" y="599071"/>
                </a:lnTo>
              </a:path>
            </a:pathLst>
          </a:custGeom>
          <a:ln w="38100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67AA8A03-CFF4-BCEF-F3FF-C33E2A5F0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811" y="3280775"/>
            <a:ext cx="11082416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Company Name: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Saredufy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Web Plus Academy Pvt. Ltd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Description: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Saredufy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Web Plus Academy is an educational startup based in Tirupati, Andhra Pradesh. It focuses on peer-to-peer learning, empowering students through full-stack web development programs like FSD PRO+, FSD PRO, and FSD Lite.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Company Address: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22-5-97/2, Plot No-81,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Kothapalle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Tirupati (Urban), Andhra Pradesh, 517501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1057" y="855027"/>
            <a:ext cx="9755505" cy="1033039"/>
          </a:xfrm>
          <a:prstGeom prst="rect">
            <a:avLst/>
          </a:prstGeom>
        </p:spPr>
        <p:txBody>
          <a:bodyPr vert="horz" wrap="square" lIns="0" tIns="352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pc="-65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Internship</a:t>
            </a:r>
            <a:r>
              <a:rPr lang="en-US" spc="-36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Certificate</a:t>
            </a:r>
          </a:p>
        </p:txBody>
      </p:sp>
      <p:pic>
        <p:nvPicPr>
          <p:cNvPr id="5" name="Picture 4" descr="A certificate of internship&#10;&#10;Description automatically generated">
            <a:extLst>
              <a:ext uri="{FF2B5EF4-FFF2-40B4-BE49-F238E27FC236}">
                <a16:creationId xmlns:a16="http://schemas.microsoft.com/office/drawing/2014/main" id="{A29E13E3-5261-2008-C33F-A7C91B8C9B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743200"/>
            <a:ext cx="5257800" cy="37106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1057" y="855027"/>
            <a:ext cx="9755505" cy="1033039"/>
          </a:xfrm>
          <a:prstGeom prst="rect">
            <a:avLst/>
          </a:prstGeom>
        </p:spPr>
        <p:txBody>
          <a:bodyPr vert="horz" wrap="square" lIns="0" tIns="352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</a:t>
            </a:r>
            <a:r>
              <a:rPr spc="-3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1057" y="2623627"/>
            <a:ext cx="10893743" cy="3782446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DESCRIPTION</a:t>
            </a:r>
          </a:p>
          <a:p>
            <a:pPr algn="just">
              <a:lnSpc>
                <a:spcPct val="150000"/>
              </a:lnSpc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Technology: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(AI), and Machine Learning (ML)</a:t>
            </a:r>
          </a:p>
          <a:p>
            <a:pPr algn="just">
              <a:lnSpc>
                <a:spcPct val="150000"/>
              </a:lnSpc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Description:</a:t>
            </a:r>
          </a:p>
          <a:p>
            <a:pPr algn="just"/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internship focused on developing an AI-powered web application titled Startup Success Probability Estimator using Python, Flask, and Scikit-learn. The project aimed to predict a startup’s success probability using a Logistic Regression model integrated with a Flask backend and a user-friendly HTML/CSS frontend for real-time analysis.</a:t>
            </a:r>
          </a:p>
          <a:p>
            <a:pPr algn="just">
              <a:lnSpc>
                <a:spcPct val="150000"/>
              </a:lnSpc>
            </a:pP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7D50EFB-681A-4E12-67A0-F20DE8E3C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38200"/>
            <a:ext cx="7621905" cy="67710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Internship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FB3FFE62-6BB1-B5BA-6B3B-D3C172D470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2819400"/>
            <a:ext cx="118110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Things </a:t>
            </a: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Learned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of AI &amp; </a:t>
            </a:r>
            <a:r>
              <a:rPr lang="en-US" alt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ML: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Gained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strong understanding of Artificial Intelligence and Machine Learning concepts.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 </a:t>
            </a:r>
            <a:r>
              <a:rPr lang="en-US" alt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Development: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trained models for the project “Startup Success Probability Estimator.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 Web </a:t>
            </a:r>
            <a:r>
              <a:rPr lang="en-US" alt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Development: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web applications integrated with machine learning models using Flask.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</a:t>
            </a:r>
            <a:r>
              <a:rPr lang="en-US" alt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Design: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user interfaces using HTML, CSS, and Flask templates.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US" alt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Evaluation: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Learned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techniques to improve model accuracy and understand real-world ML applications.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&amp; Analytical </a:t>
            </a:r>
            <a:r>
              <a:rPr lang="en-US" alt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Skills: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problem-solving and logical thinking through hands-on project work.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</a:t>
            </a:r>
            <a:r>
              <a:rPr lang="en-US" alt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Skills: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teamwork, communication, and presentation abilities through collaborative tasks.</a:t>
            </a:r>
          </a:p>
        </p:txBody>
      </p:sp>
    </p:spTree>
    <p:extLst>
      <p:ext uri="{BB962C8B-B14F-4D97-AF65-F5344CB8AC3E}">
        <p14:creationId xmlns:p14="http://schemas.microsoft.com/office/powerpoint/2010/main" val="34132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1128246"/>
            <a:ext cx="57150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</a:t>
            </a:r>
            <a:r>
              <a:rPr spc="-3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41057" y="2929930"/>
            <a:ext cx="9004935" cy="474489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r>
              <a:rPr lang="en-US" dirty="0"/>
              <a:t>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14F62AF-A29F-D022-E071-636B8CE96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831723"/>
              </p:ext>
            </p:extLst>
          </p:nvPr>
        </p:nvGraphicFramePr>
        <p:xfrm>
          <a:off x="304801" y="2743200"/>
          <a:ext cx="11277600" cy="4069956"/>
        </p:xfrm>
        <a:graphic>
          <a:graphicData uri="http://schemas.openxmlformats.org/drawingml/2006/table">
            <a:tbl>
              <a:tblPr/>
              <a:tblGrid>
                <a:gridCol w="5630480">
                  <a:extLst>
                    <a:ext uri="{9D8B030D-6E8A-4147-A177-3AD203B41FA5}">
                      <a16:colId xmlns:a16="http://schemas.microsoft.com/office/drawing/2014/main" val="3574666836"/>
                    </a:ext>
                  </a:extLst>
                </a:gridCol>
                <a:gridCol w="5647120">
                  <a:extLst>
                    <a:ext uri="{9D8B030D-6E8A-4147-A177-3AD203B41FA5}">
                      <a16:colId xmlns:a16="http://schemas.microsoft.com/office/drawing/2014/main" val="3454942131"/>
                    </a:ext>
                  </a:extLst>
                </a:gridCol>
              </a:tblGrid>
              <a:tr h="225949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Module/Concept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239991"/>
                  </a:ext>
                </a:extLst>
              </a:tr>
              <a:tr h="447513"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 to AI and ML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Learned the basic principles of Artificial Intelligence and Machine Learning, their types, and real-world applications. Explored how data drives model training and evaluation.</a:t>
                      </a: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4618292"/>
                  </a:ext>
                </a:extLst>
              </a:tr>
              <a:tr h="447513"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Algorithms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Studied various ML algorithms — Linear Regression, Logistic Regression, KNN, Naive Bayes, Decision Tree, Random Forest, and SVM — and understood where each is best applied.</a:t>
                      </a: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055479"/>
                  </a:ext>
                </a:extLst>
              </a:tr>
              <a:tr h="363191"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Supervised vs. Unsupervised Learning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Gained conceptual clarity on classification, regression, and clustering techniques, differentiating between supervised and unsupervised models.</a:t>
                      </a: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7965397"/>
                  </a:ext>
                </a:extLst>
              </a:tr>
              <a:tr h="363191"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Selection &amp; Problem Matching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Understood how to select suitable models based on problem type (classification or regression) and evaluated trade-offs between accuracy and complexity.</a:t>
                      </a: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840351"/>
                  </a:ext>
                </a:extLst>
              </a:tr>
              <a:tr h="363191"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Vector Machine (SVM)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Learned the theory of hyperplanes, margins, and kernel functions. Applied SVM for classification tasks and explored its use in image and text classification.</a:t>
                      </a: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10066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515428-349C-7A67-AFF9-B34B5B8D05E1}"/>
              </a:ext>
            </a:extLst>
          </p:cNvPr>
          <p:cNvSpPr txBox="1"/>
          <p:nvPr/>
        </p:nvSpPr>
        <p:spPr>
          <a:xfrm>
            <a:off x="1676400" y="4191000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2C25B8D-9522-2A1B-4C7D-A771493ED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05000" y="1050285"/>
            <a:ext cx="9755505" cy="677108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TASKS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843E312-6430-D3E3-CC5B-4D3A0FDCA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737604"/>
              </p:ext>
            </p:extLst>
          </p:nvPr>
        </p:nvGraphicFramePr>
        <p:xfrm>
          <a:off x="609600" y="2743200"/>
          <a:ext cx="10972800" cy="365760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328423014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292411980"/>
                    </a:ext>
                  </a:extLst>
                </a:gridCol>
              </a:tblGrid>
              <a:tr h="343688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Module/Concept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3828328"/>
                  </a:ext>
                </a:extLst>
              </a:tr>
              <a:tr h="960066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K-Nearest Neighbors (KNN)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Implemented KNN using Euclidean distance. Manually calculated distances between data points and predicted outcomes using majority voting. Learned how K value affects model accuracy.</a:t>
                      </a: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422349"/>
                  </a:ext>
                </a:extLst>
              </a:tr>
              <a:tr h="960066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 Classifier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Trained and visualized Decision Tree models for classification. Understood feature selection, entropy, Gini index, and how tree depth impacts overfitting.</a:t>
                      </a: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165789"/>
                  </a:ext>
                </a:extLst>
              </a:tr>
              <a:tr h="960066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Algorithm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Studied ensemble learning and implemented Random Forests to improve prediction accuracy. Understood bagging, voting, and how multiple trees reduce variance.</a:t>
                      </a: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9278081"/>
                  </a:ext>
                </a:extLst>
              </a:tr>
              <a:tr h="433714">
                <a:tc>
                  <a:txBody>
                    <a:bodyPr/>
                    <a:lstStyle/>
                    <a:p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9862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9141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4BB70C8-0C1B-1E1C-D605-CFCF155A0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" y="0"/>
            <a:ext cx="121905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369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29FCF1D-CD75-0B84-5F60-11A970107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480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209DB1-F23B-413C-6A3E-5FB7C8E8E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16"/>
            <a:ext cx="12192000" cy="683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618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2548B0-C78A-7860-6EF3-F4BEE0F4B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429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600200" y="838200"/>
            <a:ext cx="11891962" cy="1710147"/>
          </a:xfrm>
          <a:prstGeom prst="rect">
            <a:avLst/>
          </a:prstGeom>
        </p:spPr>
        <p:txBody>
          <a:bodyPr vert="horz" wrap="square" lIns="0" tIns="352488" rIns="0" bIns="0" rtlCol="0">
            <a:spAutoFit/>
          </a:bodyPr>
          <a:lstStyle/>
          <a:p>
            <a:pPr marL="2800350" algn="ctr">
              <a:lnSpc>
                <a:spcPct val="100000"/>
              </a:lnSpc>
              <a:spcBef>
                <a:spcPts val="130"/>
              </a:spcBef>
            </a:pPr>
            <a:r>
              <a:rPr lang="en-US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FCC02A6-042D-6BEE-E5EE-AE87C2231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002823"/>
            <a:ext cx="1285958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Startup Success Probability Estimator – AI Web App using Machine Learning and Flask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1057" y="855027"/>
            <a:ext cx="9755505" cy="1033039"/>
          </a:xfrm>
          <a:prstGeom prst="rect">
            <a:avLst/>
          </a:prstGeom>
        </p:spPr>
        <p:txBody>
          <a:bodyPr vert="horz" wrap="square" lIns="0" tIns="352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spc="-3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3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AB2E12C6-6B56-7CED-C29D-AF6078D20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056" y="2602468"/>
            <a:ext cx="1017939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 a startup’s success probability using key factors like idea, team, funding,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market potential.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 and evaluate a machine learning model to generate accurate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 percentage estimates.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founders and investors in making smart, data-driven business decisions.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28600" y="79802"/>
            <a:ext cx="12420600" cy="2825040"/>
            <a:chOff x="-76200" y="1587381"/>
            <a:chExt cx="12420600" cy="28250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76200" y="1740522"/>
              <a:ext cx="11768234" cy="26718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52400" y="1587381"/>
              <a:ext cx="12192000" cy="2543175"/>
            </a:xfrm>
            <a:custGeom>
              <a:avLst/>
              <a:gdLst/>
              <a:ahLst/>
              <a:cxnLst/>
              <a:rect l="l" t="t" r="r" b="b"/>
              <a:pathLst>
                <a:path w="12192000" h="2543175">
                  <a:moveTo>
                    <a:pt x="12192000" y="0"/>
                  </a:moveTo>
                  <a:lnTo>
                    <a:pt x="0" y="0"/>
                  </a:lnTo>
                  <a:lnTo>
                    <a:pt x="0" y="2543175"/>
                  </a:lnTo>
                  <a:lnTo>
                    <a:pt x="12192000" y="254317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5" name="object 5"/>
          <p:cNvSpPr/>
          <p:nvPr/>
        </p:nvSpPr>
        <p:spPr>
          <a:xfrm>
            <a:off x="11649075" y="5638800"/>
            <a:ext cx="38100" cy="599440"/>
          </a:xfrm>
          <a:custGeom>
            <a:avLst/>
            <a:gdLst/>
            <a:ahLst/>
            <a:cxnLst/>
            <a:rect l="l" t="t" r="r" b="b"/>
            <a:pathLst>
              <a:path w="38100" h="599439">
                <a:moveTo>
                  <a:pt x="38100" y="0"/>
                </a:moveTo>
                <a:lnTo>
                  <a:pt x="0" y="0"/>
                </a:lnTo>
                <a:lnTo>
                  <a:pt x="0" y="599071"/>
                </a:lnTo>
                <a:lnTo>
                  <a:pt x="38100" y="599071"/>
                </a:lnTo>
                <a:lnTo>
                  <a:pt x="38100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72419" y="1334938"/>
            <a:ext cx="2066925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4400" spc="-10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9AD4A6-AB2D-B2F1-F354-8AEC45852654}"/>
              </a:ext>
            </a:extLst>
          </p:cNvPr>
          <p:cNvSpPr txBox="1"/>
          <p:nvPr/>
        </p:nvSpPr>
        <p:spPr>
          <a:xfrm>
            <a:off x="990600" y="26229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A4B1BD5-3A20-4295-6A3F-6303CBB43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99461"/>
            <a:ext cx="11572875" cy="5601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Startup Success Probability Estimator is a web-based application developed using Python and Flask to help entrepreneurs assess their startup’s chances of success.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takes inputs such as idea innovation, team strength, funding level, and market potential, and predicts a success probability using a machine learning model.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quick and interactive way for users to analyze feasibility and make data-driven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decisions.Built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HTML, CSS, and Python, the project delivers instant, accurate, and user-friendly success predictions.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1066800"/>
            <a:ext cx="9755505" cy="1033039"/>
          </a:xfrm>
          <a:prstGeom prst="rect">
            <a:avLst/>
          </a:prstGeom>
        </p:spPr>
        <p:txBody>
          <a:bodyPr vert="horz" wrap="square" lIns="0" tIns="352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spc="-3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pc="-3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pc="-3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spc="-3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05A0B3F-3CB9-3D24-04EB-246007F8363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2400" y="2667000"/>
            <a:ext cx="11353800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Evaluation by Experts or Investors: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Highly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subjective and depends on personal judgment; time-consuming process; lacks consistency and data-driven accuracy in decision-making.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Spreadsheet or Rule-Based Scoring Systems: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fixed weights and manual calculations; cannot handle complex relationships between factors; prone to human error and not scalable for large datasets.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Standalone Machine Learning Models (Without Web Integration):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technical knowledge to operate; not accessible to non-technical users; lack real-time interaction and a user-friendly interface for easy evaluation.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5771" y="1143000"/>
            <a:ext cx="9755505" cy="1033039"/>
          </a:xfrm>
          <a:prstGeom prst="rect">
            <a:avLst/>
          </a:prstGeom>
        </p:spPr>
        <p:txBody>
          <a:bodyPr vert="horz" wrap="square" lIns="0" tIns="352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spc="-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pc="-4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pc="-4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43A54-CDDC-243C-DB0D-294F06428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1" y="2636110"/>
            <a:ext cx="11201400" cy="4221890"/>
          </a:xfrm>
        </p:spPr>
        <p:txBody>
          <a:bodyPr/>
          <a:lstStyle/>
          <a:p>
            <a:pPr algn="just"/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(Startup Success Probability Estimator):</a:t>
            </a:r>
          </a:p>
          <a:p>
            <a:pPr algn="just"/>
            <a:endParaRPr lang="en-US" sz="22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Prediction: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a trained Logistic Regression model to predict a startup’s success probability based on measurable factors such as idea innovation, team strength, funding level, and market potential.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Analysis: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instant prediction results through a web interface, allowing users to get success estimates immediately after submitting their inputs.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with a simple and interactive web layout using HTML and CSS, making it easy for non-technical users to access and understand results.</a:t>
            </a:r>
          </a:p>
          <a:p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E82D2-CECA-0316-CD77-D0B215659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57" y="1371600"/>
            <a:ext cx="9755505" cy="67710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lang="en-US" spc="-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pc="-4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pc="-4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6D3F4-4DC6-B3EE-9C15-3FF72BBD4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057" y="2590800"/>
            <a:ext cx="10969943" cy="3193182"/>
          </a:xfrm>
        </p:spPr>
        <p:txBody>
          <a:bodyPr/>
          <a:lstStyle/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(Startup Success Probability Estimator):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and Accessible: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Built using open-source tools like Python, Flask, and Scikit-learn, requiring no specialized hardware or paid software.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and Reliable: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Eliminates human bias by generating consistent, data-driven outcomes that support entrepreneurs and investors in making informed decisions.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796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1057" y="855027"/>
            <a:ext cx="9755505" cy="1033039"/>
          </a:xfrm>
          <a:prstGeom prst="rect">
            <a:avLst/>
          </a:prstGeom>
        </p:spPr>
        <p:txBody>
          <a:bodyPr vert="horz" wrap="square" lIns="0" tIns="352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spc="-4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pc="-3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spc="-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54900A-98B9-88D9-85A2-F8B4948E27B0}"/>
              </a:ext>
            </a:extLst>
          </p:cNvPr>
          <p:cNvSpPr txBox="1"/>
          <p:nvPr/>
        </p:nvSpPr>
        <p:spPr>
          <a:xfrm>
            <a:off x="835977" y="2590800"/>
            <a:ext cx="18473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/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4E9A8E5-4969-F19A-EA24-AB697F01A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497444"/>
              </p:ext>
            </p:extLst>
          </p:nvPr>
        </p:nvGraphicFramePr>
        <p:xfrm>
          <a:off x="304800" y="2743200"/>
          <a:ext cx="11277600" cy="3567904"/>
        </p:xfrm>
        <a:graphic>
          <a:graphicData uri="http://schemas.openxmlformats.org/drawingml/2006/table">
            <a:tbl>
              <a:tblPr/>
              <a:tblGrid>
                <a:gridCol w="3759200">
                  <a:extLst>
                    <a:ext uri="{9D8B030D-6E8A-4147-A177-3AD203B41FA5}">
                      <a16:colId xmlns:a16="http://schemas.microsoft.com/office/drawing/2014/main" val="2011165687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1996626523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1543755519"/>
                    </a:ext>
                  </a:extLst>
                </a:gridCol>
              </a:tblGrid>
              <a:tr h="287439"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685" marR="74685" marT="37342" marB="37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 / Tool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685" marR="74685" marT="37342" marB="37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 / Use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685" marR="74685" marT="37342" marB="37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316770"/>
                  </a:ext>
                </a:extLst>
              </a:tr>
              <a:tr h="937411"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685" marR="74685" marT="37342" marB="37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Laptop / Computer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685" marR="74685" marT="37342" marB="37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model training, coding, and testing the web application. Minimum 4GB RAM (8GB recommended).</a:t>
                      </a:r>
                    </a:p>
                  </a:txBody>
                  <a:tcPr marL="74685" marR="74685" marT="37342" marB="37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493217"/>
                  </a:ext>
                </a:extLst>
              </a:tr>
              <a:tr h="937411">
                <a:tc>
                  <a:txBody>
                    <a:bodyPr/>
                    <a:lstStyle/>
                    <a:p>
                      <a:pPr algn="just"/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685" marR="74685" marT="37342" marB="37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Processor (Intel i3 or higher)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685" marR="74685" marT="37342" marB="37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Required for smooth execution of Python scripts and machine learning model computations.</a:t>
                      </a:r>
                    </a:p>
                  </a:txBody>
                  <a:tcPr marL="74685" marR="74685" marT="37342" marB="37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186648"/>
                  </a:ext>
                </a:extLst>
              </a:tr>
              <a:tr h="720754">
                <a:tc>
                  <a:txBody>
                    <a:bodyPr/>
                    <a:lstStyle/>
                    <a:p>
                      <a:pPr algn="just"/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685" marR="74685" marT="37342" marB="37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Storage: 100GB (free space)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685" marR="74685" marT="37342" marB="37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store datasets, model files, and project dependencies.</a:t>
                      </a:r>
                    </a:p>
                  </a:txBody>
                  <a:tcPr marL="74685" marR="74685" marT="37342" marB="37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054005"/>
                  </a:ext>
                </a:extLst>
              </a:tr>
              <a:tr h="504096">
                <a:tc>
                  <a:txBody>
                    <a:bodyPr/>
                    <a:lstStyle/>
                    <a:p>
                      <a:pPr algn="just"/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685" marR="74685" marT="37342" marB="37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 / Display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685" marR="74685" marT="37342" marB="37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real-time testing and visualization of web outputs.</a:t>
                      </a:r>
                    </a:p>
                  </a:txBody>
                  <a:tcPr marL="74685" marR="74685" marT="37342" marB="37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7370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5977" y="990600"/>
            <a:ext cx="9755505" cy="1033039"/>
          </a:xfrm>
          <a:prstGeom prst="rect">
            <a:avLst/>
          </a:prstGeom>
        </p:spPr>
        <p:txBody>
          <a:bodyPr vert="horz" wrap="square" lIns="0" tIns="352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spc="-4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pc="-3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spc="-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54900A-98B9-88D9-85A2-F8B4948E27B0}"/>
              </a:ext>
            </a:extLst>
          </p:cNvPr>
          <p:cNvSpPr txBox="1"/>
          <p:nvPr/>
        </p:nvSpPr>
        <p:spPr>
          <a:xfrm>
            <a:off x="835977" y="2590800"/>
            <a:ext cx="18473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/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4E9A8E5-4969-F19A-EA24-AB697F01A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542681"/>
              </p:ext>
            </p:extLst>
          </p:nvPr>
        </p:nvGraphicFramePr>
        <p:xfrm>
          <a:off x="1752600" y="2743200"/>
          <a:ext cx="2803702" cy="365760"/>
        </p:xfrm>
        <a:graphic>
          <a:graphicData uri="http://schemas.openxmlformats.org/drawingml/2006/table">
            <a:tbl>
              <a:tblPr/>
              <a:tblGrid>
                <a:gridCol w="2803702">
                  <a:extLst>
                    <a:ext uri="{9D8B030D-6E8A-4147-A177-3AD203B41FA5}">
                      <a16:colId xmlns:a16="http://schemas.microsoft.com/office/drawing/2014/main" val="20111656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3167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904830-0A7E-0F63-FA86-6EABED727B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106373"/>
              </p:ext>
            </p:extLst>
          </p:nvPr>
        </p:nvGraphicFramePr>
        <p:xfrm>
          <a:off x="533400" y="2569029"/>
          <a:ext cx="11049000" cy="4178135"/>
        </p:xfrm>
        <a:graphic>
          <a:graphicData uri="http://schemas.openxmlformats.org/drawingml/2006/table">
            <a:tbl>
              <a:tblPr/>
              <a:tblGrid>
                <a:gridCol w="3683000">
                  <a:extLst>
                    <a:ext uri="{9D8B030D-6E8A-4147-A177-3AD203B41FA5}">
                      <a16:colId xmlns:a16="http://schemas.microsoft.com/office/drawing/2014/main" val="2803176499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4192492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1609075152"/>
                    </a:ext>
                  </a:extLst>
                </a:gridCol>
              </a:tblGrid>
              <a:tr h="28097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Library / Tool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 / Use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105029"/>
                  </a:ext>
                </a:extLst>
              </a:tr>
              <a:tr h="572855"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HANDLING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Pandas, NumPy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data handling, cleaning, and basic computations.</a:t>
                      </a: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7519011"/>
                  </a:ext>
                </a:extLst>
              </a:tr>
              <a:tr h="511771">
                <a:tc>
                  <a:txBody>
                    <a:bodyPr/>
                    <a:lstStyle/>
                    <a:p>
                      <a:pPr algn="just"/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FRAMEWORK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Scikit-learn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building and testing the Logistic Regression model.</a:t>
                      </a: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801643"/>
                  </a:ext>
                </a:extLst>
              </a:tr>
              <a:tr h="572855">
                <a:tc>
                  <a:txBody>
                    <a:bodyPr/>
                    <a:lstStyle/>
                    <a:p>
                      <a:pPr algn="just"/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STORAGE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Pickle (.</a:t>
                      </a:r>
                      <a:r>
                        <a:rPr lang="en-US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pkl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to save and reload the trained machine learning model.</a:t>
                      </a: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920874"/>
                  </a:ext>
                </a:extLst>
              </a:tr>
              <a:tr h="572855">
                <a:tc>
                  <a:txBody>
                    <a:bodyPr/>
                    <a:lstStyle/>
                    <a:p>
                      <a:pPr algn="just"/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FRAMEWORK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Flask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Integrates the model into a web-based prediction interface.</a:t>
                      </a: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701667"/>
                  </a:ext>
                </a:extLst>
              </a:tr>
              <a:tr h="511771">
                <a:tc>
                  <a:txBody>
                    <a:bodyPr/>
                    <a:lstStyle/>
                    <a:p>
                      <a:pPr algn="just"/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FRONT-END DESIGN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HTML, CSS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creating and styling the user interface.</a:t>
                      </a: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930635"/>
                  </a:ext>
                </a:extLst>
              </a:tr>
              <a:tr h="511771">
                <a:tc>
                  <a:txBody>
                    <a:bodyPr/>
                    <a:lstStyle/>
                    <a:p>
                      <a:pPr algn="just"/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VISUALIZATION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Matplotlib, Seaborn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visualizing results and performance (optional).</a:t>
                      </a: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399066"/>
                  </a:ext>
                </a:extLst>
              </a:tr>
              <a:tr h="511771"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 CONTROL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 / GitHub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version control and storing project code online.</a:t>
                      </a: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258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3424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1057" y="855027"/>
            <a:ext cx="9755505" cy="1033039"/>
          </a:xfrm>
          <a:prstGeom prst="rect">
            <a:avLst/>
          </a:prstGeom>
        </p:spPr>
        <p:txBody>
          <a:bodyPr vert="horz" wrap="square" lIns="0" tIns="352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pc="-3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pic>
        <p:nvPicPr>
          <p:cNvPr id="7" name="Picture 6" descr="A diagram of data collection layers&#10;&#10;Description automatically generated">
            <a:extLst>
              <a:ext uri="{FF2B5EF4-FFF2-40B4-BE49-F238E27FC236}">
                <a16:creationId xmlns:a16="http://schemas.microsoft.com/office/drawing/2014/main" id="{67C2CD3B-68DA-1233-304B-E3AD3D858C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2611505"/>
            <a:ext cx="4159117" cy="415911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3587" y="741272"/>
            <a:ext cx="9755505" cy="1033039"/>
          </a:xfrm>
          <a:prstGeom prst="rect">
            <a:avLst/>
          </a:prstGeom>
        </p:spPr>
        <p:txBody>
          <a:bodyPr vert="horz" wrap="square" lIns="0" tIns="352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Methodologies</a:t>
            </a:r>
            <a:r>
              <a:rPr spc="-2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pc="-3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pc="-2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7E7F80-7D29-06D1-F2B2-1FECE3A867FE}"/>
              </a:ext>
            </a:extLst>
          </p:cNvPr>
          <p:cNvSpPr txBox="1"/>
          <p:nvPr/>
        </p:nvSpPr>
        <p:spPr>
          <a:xfrm>
            <a:off x="3048000" y="3358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. 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52E9E6C-81DF-6F2C-C787-DF946F3E9D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2634734"/>
            <a:ext cx="1112202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 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and Processing</a:t>
            </a:r>
          </a:p>
          <a:p>
            <a:pPr marL="285750" lvl="0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Tool: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 and NumPy</a:t>
            </a:r>
          </a:p>
          <a:p>
            <a:pPr marL="285750" lvl="0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Description: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 reading, cleaning, and preparing startup data for model training and analysis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rtl="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 startAt="2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</a:t>
            </a:r>
          </a:p>
          <a:p>
            <a:pPr marL="285750" lvl="0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Technique: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(Scikit-learn)</a:t>
            </a:r>
          </a:p>
          <a:p>
            <a:pPr marL="285750" lvl="0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Description: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Predicts the probability of a startup’s success based on input features like  idea  ,team,</a:t>
            </a:r>
          </a:p>
          <a:p>
            <a:pPr marL="285750" lvl="0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funding, and market potential.</a:t>
            </a:r>
          </a:p>
          <a:p>
            <a:pPr marL="285750" lvl="0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rtl="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 startAt="3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Saving and Loading</a:t>
            </a:r>
          </a:p>
          <a:p>
            <a:pPr marL="285750" lvl="0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Tool: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Pickle (.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pkl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file)</a:t>
            </a:r>
          </a:p>
          <a:p>
            <a:pPr marL="285750" lvl="0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Description: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Saves the trained model for reuse, allowing predictions without retraining each time.</a:t>
            </a:r>
          </a:p>
        </p:txBody>
      </p:sp>
    </p:spTree>
    <p:extLst>
      <p:ext uri="{BB962C8B-B14F-4D97-AF65-F5344CB8AC3E}">
        <p14:creationId xmlns:p14="http://schemas.microsoft.com/office/powerpoint/2010/main" val="2709691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767349"/>
            <a:ext cx="9755505" cy="1033039"/>
          </a:xfrm>
          <a:prstGeom prst="rect">
            <a:avLst/>
          </a:prstGeom>
        </p:spPr>
        <p:txBody>
          <a:bodyPr vert="horz" wrap="square" lIns="0" tIns="352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Methodologies</a:t>
            </a:r>
            <a:r>
              <a:rPr spc="-2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pc="-3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pc="-2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19004-36AB-BFC0-6124-C197A5DA6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2895600"/>
            <a:ext cx="10436543" cy="2977738"/>
          </a:xfrm>
        </p:spPr>
        <p:txBody>
          <a:bodyPr/>
          <a:lstStyle/>
          <a:p>
            <a:pPr marL="457200" indent="-457200" algn="just">
              <a:buFont typeface="+mj-lt"/>
              <a:buAutoNum type="arabicPeriod" startAt="4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Integration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Flask Framework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Connects the machine learning model to a web interface for real-time user interaction and predictions.</a:t>
            </a:r>
          </a:p>
          <a:p>
            <a:pPr marL="457200" indent="-457200" algn="just">
              <a:buFont typeface="+mj-lt"/>
              <a:buAutoNum type="arabicPeriod" startAt="5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Design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 and CSS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Builds a clean and responsive web page for users to input startup details and view results instantly.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7E7F80-7D29-06D1-F2B2-1FECE3A867FE}"/>
              </a:ext>
            </a:extLst>
          </p:cNvPr>
          <p:cNvSpPr txBox="1"/>
          <p:nvPr/>
        </p:nvSpPr>
        <p:spPr>
          <a:xfrm>
            <a:off x="3048000" y="3358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. 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B6993-BB69-F30F-1003-66ED3AD17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33" y="1143000"/>
            <a:ext cx="9605962" cy="67710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Sample Screenshots &amp; Code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28EAAE-093F-B85F-0754-7E3CBECCB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08" y="2623627"/>
            <a:ext cx="3581400" cy="40341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F0FDFF-8CC6-CB97-348F-B5884266E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747619"/>
            <a:ext cx="5384116" cy="354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9959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7DCFC-3B58-6E57-26E8-C79AF760B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57" y="855027"/>
            <a:ext cx="9755505" cy="67710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Sample Screenshots &amp; Code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6C4303-BB88-2B6B-AE5F-3D53E9C92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628" b="35579"/>
          <a:stretch/>
        </p:blipFill>
        <p:spPr>
          <a:xfrm>
            <a:off x="609600" y="3124200"/>
            <a:ext cx="4522719" cy="25579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435C71-65F8-1FF5-9773-0EA23AB21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3124200"/>
            <a:ext cx="5460930" cy="2590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1679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7DCFC-3B58-6E57-26E8-C79AF760B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57" y="855027"/>
            <a:ext cx="9755505" cy="67710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Sample Screenshots &amp; Code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FB24CC-DAE3-1D70-D646-41ADF3A55A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1" r="848" b="38771"/>
          <a:stretch/>
        </p:blipFill>
        <p:spPr>
          <a:xfrm>
            <a:off x="228600" y="3500147"/>
            <a:ext cx="6019800" cy="2286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28FD74-BE78-E475-9430-FDEAD742A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538" y="3432313"/>
            <a:ext cx="5521053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2170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1066800"/>
            <a:ext cx="9755505" cy="1033039"/>
          </a:xfrm>
          <a:prstGeom prst="rect">
            <a:avLst/>
          </a:prstGeom>
        </p:spPr>
        <p:txBody>
          <a:bodyPr vert="horz" wrap="square" lIns="0" tIns="352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75C463-EBC0-5C60-3D2E-86A40E6E797C}"/>
              </a:ext>
            </a:extLst>
          </p:cNvPr>
          <p:cNvSpPr txBox="1"/>
          <p:nvPr/>
        </p:nvSpPr>
        <p:spPr>
          <a:xfrm>
            <a:off x="228600" y="2971800"/>
            <a:ext cx="1120139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Startup Success Probability Estimator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successfully demonstrated the integration of Machine Learning with web technologies to predict startup success rates efficiently.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combining Logistic Regression with a Flask-based web interface, the system provides a reliable, data-driven method for assessing business potential. The application delivers real-time predictions through a simple and user-friendly interface, helping entrepreneurs and investors make informed decisions.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achieved its goal of creating an intelligent, accessible, and practical tool for startup evaluation using modern AI techniques.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1057" y="855027"/>
            <a:ext cx="9755505" cy="1033039"/>
          </a:xfrm>
          <a:prstGeom prst="rect">
            <a:avLst/>
          </a:prstGeom>
        </p:spPr>
        <p:txBody>
          <a:bodyPr vert="horz" wrap="square" lIns="0" tIns="352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E6E25A-09F9-FEA1-FB1E-B916E04F2E7A}"/>
              </a:ext>
            </a:extLst>
          </p:cNvPr>
          <p:cNvSpPr txBox="1"/>
          <p:nvPr/>
        </p:nvSpPr>
        <p:spPr>
          <a:xfrm>
            <a:off x="609600" y="2895600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5435" indent="-305435" eaLnBrk="1" fontAlgn="auto" hangingPunct="1">
              <a:defRPr/>
            </a:pPr>
            <a:r>
              <a:rPr lang="en-IN" sz="1800" b="1" dirty="0">
                <a:solidFill>
                  <a:srgbClr val="0F0F0F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- https://www.kaggle.com/</a:t>
            </a:r>
          </a:p>
          <a:p>
            <a:pPr marL="305435" indent="-305435" eaLnBrk="1" fontAlgn="auto" hangingPunct="1">
              <a:defRPr/>
            </a:pPr>
            <a:r>
              <a:rPr lang="en-IN" sz="1800" b="1" dirty="0">
                <a:solidFill>
                  <a:srgbClr val="0F0F0F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- https://pandas.pydata.org/</a:t>
            </a:r>
          </a:p>
          <a:p>
            <a:pPr marL="305435" indent="-305435" eaLnBrk="1" fontAlgn="auto" hangingPunct="1">
              <a:defRPr/>
            </a:pPr>
            <a:r>
              <a:rPr lang="en-IN" sz="1800" b="1" dirty="0">
                <a:solidFill>
                  <a:srgbClr val="0F0F0F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- https://scikit-learn.org/</a:t>
            </a:r>
          </a:p>
          <a:p>
            <a:pPr marL="305435" indent="-305435" eaLnBrk="1" fontAlgn="auto" hangingPunct="1">
              <a:defRPr/>
            </a:pPr>
            <a:r>
              <a:rPr lang="en-IN" sz="1800" b="1" dirty="0">
                <a:solidFill>
                  <a:srgbClr val="0F0F0F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- https://www.geeksforgeeks.org/</a:t>
            </a:r>
          </a:p>
          <a:p>
            <a:pPr marL="305435" indent="-305435" eaLnBrk="1" fontAlgn="auto" hangingPunct="1">
              <a:defRPr/>
            </a:pPr>
            <a:r>
              <a:rPr lang="en-IN" sz="1800" b="1" dirty="0">
                <a:solidFill>
                  <a:srgbClr val="0F0F0F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- https://www.w3schools.com/python/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612</TotalTime>
  <Words>1474</Words>
  <Application>Microsoft Office PowerPoint</Application>
  <PresentationFormat>Widescreen</PresentationFormat>
  <Paragraphs>182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Arial</vt:lpstr>
      <vt:lpstr>Tahoma</vt:lpstr>
      <vt:lpstr>Times New Roman</vt:lpstr>
      <vt:lpstr>Office Theme</vt:lpstr>
      <vt:lpstr>INTERNSHIP REPORT&amp;PROJECT REVIEW-1</vt:lpstr>
      <vt:lpstr>ABOUT INDUSTRY/ORGANIZATION DETAILS</vt:lpstr>
      <vt:lpstr>Internship Certificate</vt:lpstr>
      <vt:lpstr>My Internship</vt:lpstr>
      <vt:lpstr>My Internship</vt:lpstr>
      <vt:lpstr>SPECIFIC TASKS</vt:lpstr>
      <vt:lpstr>SPECIFIC TASKS</vt:lpstr>
      <vt:lpstr>PowerPoint Presentation</vt:lpstr>
      <vt:lpstr>PowerPoint Presentation</vt:lpstr>
      <vt:lpstr>PowerPoint Presentation</vt:lpstr>
      <vt:lpstr>PowerPoint Presentation</vt:lpstr>
      <vt:lpstr>Title </vt:lpstr>
      <vt:lpstr>Objective of the Project</vt:lpstr>
      <vt:lpstr>PowerPoint Presentation</vt:lpstr>
      <vt:lpstr>Existing system with its disadvantages</vt:lpstr>
      <vt:lpstr>   Proposed system with advantages</vt:lpstr>
      <vt:lpstr>Proposed system with advantages</vt:lpstr>
      <vt:lpstr>Hardware &amp; Software Requirements</vt:lpstr>
      <vt:lpstr>Hardware &amp; Software Requirements</vt:lpstr>
      <vt:lpstr>System Architecture</vt:lpstr>
      <vt:lpstr>Methodologies Used for Implementation</vt:lpstr>
      <vt:lpstr>Methodologies Used for Implementation</vt:lpstr>
      <vt:lpstr>Project Sample Screenshots &amp; Code</vt:lpstr>
      <vt:lpstr>Project Sample Screenshots &amp; Code</vt:lpstr>
      <vt:lpstr>Project Sample Screenshots &amp; Code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BugsBunny</dc:creator>
  <cp:lastModifiedBy>Karthik B</cp:lastModifiedBy>
  <cp:revision>10</cp:revision>
  <dcterms:created xsi:type="dcterms:W3CDTF">2025-10-16T13:56:41Z</dcterms:created>
  <dcterms:modified xsi:type="dcterms:W3CDTF">2025-11-04T16:43:29Z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2025-10-13T00:00:00Z</vt:filetime>
  </property>
  <property fmtid="{D5CDD505-2E9C-101B-9397-08002B2CF9AE}" pid="3" name="LastSaved">
    <vt:filetime>2025-10-16T00:00:00Z</vt:filetime>
  </property>
</Properties>
</file>