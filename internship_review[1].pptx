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72" r:id="rId6"/>
    <p:sldId id="260" r:id="rId7"/>
    <p:sldId id="273" r:id="rId8"/>
    <p:sldId id="275" r:id="rId9"/>
    <p:sldId id="277" r:id="rId10"/>
    <p:sldId id="281" r:id="rId11"/>
    <p:sldId id="280" r:id="rId12"/>
    <p:sldId id="262" r:id="rId13"/>
    <p:sldId id="263" r:id="rId14"/>
    <p:sldId id="264" r:id="rId15"/>
    <p:sldId id="265" r:id="rId16"/>
    <p:sldId id="266" r:id="rId17"/>
    <p:sldId id="279" r:id="rId18"/>
    <p:sldId id="267" r:id="rId19"/>
    <p:sldId id="282" r:id="rId20"/>
    <p:sldId id="268" r:id="rId21"/>
    <p:sldId id="283" r:id="rId22"/>
    <p:sldId id="269" r:id="rId23"/>
    <p:sldId id="284" r:id="rId24"/>
    <p:sldId id="285" r:id="rId25"/>
    <p:sldId id="286" r:id="rId26"/>
    <p:sldId id="271" r:id="rId27"/>
    <p:sldId id="270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3072" autoAdjust="0"/>
  </p:normalViewPr>
  <p:slideViewPr>
    <p:cSldViewPr>
      <p:cViewPr varScale="1">
        <p:scale>
          <a:sx n="77" d="100"/>
          <a:sy n="77" d="100"/>
        </p:scale>
        <p:origin x="90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A2D93-FAAC-4E6B-BBC3-483F82F56E65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3C6A1-D03A-4C24-B76C-0CA9D4EEC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54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3C6A1-D03A-4C24-B76C-0CA9D4EECD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87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41057" y="1077213"/>
            <a:ext cx="4521200" cy="2045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376545" y="4267136"/>
            <a:ext cx="5897880" cy="1322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531" y="0"/>
            <a:ext cx="11768234" cy="26718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2192000" cy="2543175"/>
          </a:xfrm>
          <a:custGeom>
            <a:avLst/>
            <a:gdLst/>
            <a:ahLst/>
            <a:cxnLst/>
            <a:rect l="l" t="t" r="r" b="b"/>
            <a:pathLst>
              <a:path w="12192000" h="2543175">
                <a:moveTo>
                  <a:pt x="12192000" y="0"/>
                </a:moveTo>
                <a:lnTo>
                  <a:pt x="0" y="0"/>
                </a:lnTo>
                <a:lnTo>
                  <a:pt x="0" y="2543175"/>
                </a:lnTo>
                <a:lnTo>
                  <a:pt x="12192000" y="25431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649075" y="5638800"/>
            <a:ext cx="38100" cy="599440"/>
          </a:xfrm>
          <a:custGeom>
            <a:avLst/>
            <a:gdLst/>
            <a:ahLst/>
            <a:cxnLst/>
            <a:rect l="l" t="t" r="r" b="b"/>
            <a:pathLst>
              <a:path w="38100" h="599439">
                <a:moveTo>
                  <a:pt x="38100" y="0"/>
                </a:moveTo>
                <a:lnTo>
                  <a:pt x="0" y="0"/>
                </a:lnTo>
                <a:lnTo>
                  <a:pt x="0" y="599071"/>
                </a:lnTo>
                <a:lnTo>
                  <a:pt x="38100" y="599071"/>
                </a:lnTo>
                <a:lnTo>
                  <a:pt x="3810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1057" y="855027"/>
            <a:ext cx="9755505" cy="131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1057" y="2623627"/>
            <a:ext cx="9004935" cy="3287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48475"/>
            <a:chOff x="0" y="0"/>
            <a:chExt cx="12192000" cy="6848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2683" y="0"/>
              <a:ext cx="6235113" cy="661581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15050" y="0"/>
              <a:ext cx="6076950" cy="6848475"/>
            </a:xfrm>
            <a:custGeom>
              <a:avLst/>
              <a:gdLst/>
              <a:ahLst/>
              <a:cxnLst/>
              <a:rect l="l" t="t" r="r" b="b"/>
              <a:pathLst>
                <a:path w="6076950" h="6848475">
                  <a:moveTo>
                    <a:pt x="6076950" y="0"/>
                  </a:moveTo>
                  <a:lnTo>
                    <a:pt x="0" y="0"/>
                  </a:lnTo>
                  <a:lnTo>
                    <a:pt x="0" y="6848475"/>
                  </a:lnTo>
                  <a:lnTo>
                    <a:pt x="6076950" y="684847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" y="0"/>
              <a:ext cx="11815826" cy="39767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9525"/>
              <a:ext cx="12192000" cy="3543300"/>
            </a:xfrm>
            <a:custGeom>
              <a:avLst/>
              <a:gdLst/>
              <a:ahLst/>
              <a:cxnLst/>
              <a:rect l="l" t="t" r="r" b="b"/>
              <a:pathLst>
                <a:path w="12192000" h="3543300">
                  <a:moveTo>
                    <a:pt x="12192000" y="0"/>
                  </a:moveTo>
                  <a:lnTo>
                    <a:pt x="0" y="0"/>
                  </a:lnTo>
                  <a:lnTo>
                    <a:pt x="0" y="3543300"/>
                  </a:lnTo>
                  <a:lnTo>
                    <a:pt x="12192000" y="35433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841057" y="1077213"/>
            <a:ext cx="4521200" cy="167674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6510" marR="5080">
              <a:lnSpc>
                <a:spcPct val="100299"/>
              </a:lnSpc>
              <a:spcBef>
                <a:spcPts val="115"/>
              </a:spcBef>
            </a:pPr>
            <a:r>
              <a:rPr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</a:t>
            </a:r>
            <a:r>
              <a:rPr sz="36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REPORT&amp;PROJECT </a:t>
            </a:r>
            <a:r>
              <a:rPr sz="3600"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</a:t>
            </a:r>
            <a:r>
              <a:rPr sz="36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ubTitle" idx="4"/>
          </p:nvPr>
        </p:nvSpPr>
        <p:spPr>
          <a:xfrm>
            <a:off x="3399338" y="3976751"/>
            <a:ext cx="7924798" cy="238687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sz="18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PERIOD:</a:t>
            </a:r>
            <a:r>
              <a:rPr sz="18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15/06/25</a:t>
            </a:r>
            <a:r>
              <a:rPr lang="en-US" sz="1800" b="1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09/08/25</a:t>
            </a:r>
            <a:r>
              <a:rPr lang="en-US" sz="1800" b="1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1800" b="1"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sz="1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C.NICHITHA SREE</a:t>
            </a:r>
          </a:p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:23691A3340</a:t>
            </a:r>
          </a:p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8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sz="1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:18/10/25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spc="-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1692910" algn="r">
              <a:lnSpc>
                <a:spcPct val="142400"/>
              </a:lnSpc>
              <a:spcBef>
                <a:spcPts val="55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sz="18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</a:t>
            </a:r>
            <a:r>
              <a:rPr lang="en-US"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DR.S.PRIYA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15050" y="0"/>
            <a:ext cx="6076950" cy="6238240"/>
            <a:chOff x="6115050" y="0"/>
            <a:chExt cx="6076950" cy="623824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5050" y="0"/>
              <a:ext cx="6076569" cy="35528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668125" y="5638800"/>
              <a:ext cx="0" cy="599440"/>
            </a:xfrm>
            <a:custGeom>
              <a:avLst/>
              <a:gdLst/>
              <a:ahLst/>
              <a:cxnLst/>
              <a:rect l="l" t="t" r="r" b="b"/>
              <a:pathLst>
                <a:path h="599439">
                  <a:moveTo>
                    <a:pt x="0" y="0"/>
                  </a:moveTo>
                  <a:lnTo>
                    <a:pt x="0" y="599071"/>
                  </a:lnTo>
                </a:path>
              </a:pathLst>
            </a:custGeom>
            <a:ln w="381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693" y="179704"/>
            <a:ext cx="11144250" cy="2662555"/>
            <a:chOff x="0" y="0"/>
            <a:chExt cx="11144250" cy="266255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29" y="0"/>
              <a:ext cx="11025287" cy="266237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1144250" cy="2543175"/>
            </a:xfrm>
            <a:custGeom>
              <a:avLst/>
              <a:gdLst/>
              <a:ahLst/>
              <a:cxnLst/>
              <a:rect l="l" t="t" r="r" b="b"/>
              <a:pathLst>
                <a:path w="11144250" h="2543175">
                  <a:moveTo>
                    <a:pt x="11144250" y="0"/>
                  </a:moveTo>
                  <a:lnTo>
                    <a:pt x="0" y="0"/>
                  </a:lnTo>
                  <a:lnTo>
                    <a:pt x="0" y="2543175"/>
                  </a:lnTo>
                  <a:lnTo>
                    <a:pt x="11144250" y="2543175"/>
                  </a:lnTo>
                  <a:lnTo>
                    <a:pt x="11144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657681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>
              <a:lnSpc>
                <a:spcPts val="4810"/>
              </a:lnSpc>
              <a:spcBef>
                <a:spcPts val="685"/>
              </a:spcBef>
            </a:pPr>
            <a:r>
              <a:rPr sz="3600" spc="-6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ABOUT</a:t>
            </a:r>
            <a:r>
              <a:rPr sz="3600" spc="-39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sz="3600" spc="-13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INDUSTRY/ORGANIZATION </a:t>
            </a:r>
            <a:r>
              <a:rPr sz="3600" spc="-3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DETAILS</a:t>
            </a:r>
          </a:p>
        </p:txBody>
      </p:sp>
      <p:sp>
        <p:nvSpPr>
          <p:cNvPr id="7" name="object 7"/>
          <p:cNvSpPr/>
          <p:nvPr/>
        </p:nvSpPr>
        <p:spPr>
          <a:xfrm>
            <a:off x="11668125" y="5638800"/>
            <a:ext cx="0" cy="599440"/>
          </a:xfrm>
          <a:custGeom>
            <a:avLst/>
            <a:gdLst/>
            <a:ahLst/>
            <a:cxnLst/>
            <a:rect l="l" t="t" r="r" b="b"/>
            <a:pathLst>
              <a:path h="599439">
                <a:moveTo>
                  <a:pt x="0" y="0"/>
                </a:moveTo>
                <a:lnTo>
                  <a:pt x="0" y="599071"/>
                </a:lnTo>
              </a:path>
            </a:pathLst>
          </a:custGeom>
          <a:ln w="38100">
            <a:solidFill>
              <a:srgbClr val="2525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D4BE3-4751-6209-858D-C2DECA0B8C54}"/>
              </a:ext>
            </a:extLst>
          </p:cNvPr>
          <p:cNvSpPr txBox="1"/>
          <p:nvPr/>
        </p:nvSpPr>
        <p:spPr>
          <a:xfrm>
            <a:off x="304802" y="2743199"/>
            <a:ext cx="88367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Saredufy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Web Plus Academy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Pvt.Ltd</a:t>
            </a: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Description:</a:t>
            </a:r>
            <a:b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Saredufy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Web Plus Academy is an educational startup based in Tirupati, Andhra Pradesh, India. The academy focuses on empowering students through a peer-to-peer learning model, where learners actively teach and mentor each other in emerging technologies. The academy offers specialized programs such as the Zero-to-One FSD PRO series, which includes FSD PRO+, FSD PRO, and FSD Lite. These programs are designed to provide comprehensive training in full-stack web development, catering to various levels of expertise. Notably, the academy provides laptops to students enrolled in these programs, enhancing the learning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Company Address: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22-5-97/2, Plot No-81,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Kothapalle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Tirupati (Urban), Andhra Pradesh, 517501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600" spc="-6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Internship</a:t>
            </a:r>
            <a:r>
              <a:rPr lang="en-US" sz="3600" spc="-36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Certificate</a:t>
            </a:r>
          </a:p>
        </p:txBody>
      </p:sp>
      <p:pic>
        <p:nvPicPr>
          <p:cNvPr id="5" name="Picture 4" descr="A certificate of internship&#10;&#10;Description automatically generated">
            <a:extLst>
              <a:ext uri="{FF2B5EF4-FFF2-40B4-BE49-F238E27FC236}">
                <a16:creationId xmlns:a16="http://schemas.microsoft.com/office/drawing/2014/main" id="{A29E13E3-5261-2008-C33F-A7C91B8C9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743200"/>
            <a:ext cx="5257800" cy="37106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sz="3600" spc="-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1057" y="2623627"/>
            <a:ext cx="7236143" cy="4521109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DESCRIPTION:</a:t>
            </a:r>
          </a:p>
          <a:p>
            <a:endParaRPr lang="en-US" sz="16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Technology: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 (AI), Machine Learning (ML), and Predictive Analytics.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focused on developing an AI-powered web application titled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 Success Probability Estimator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Python, Flask, and Scikit-learn. The main goal was to build a predictive system capable of estimating a startup’s success probability based on key parameters such as idea innovation, team strength, funding level, and market potential. The project involved training a Logistic Regression model for binary classification (success or failure), integrating it into a Flask backend for real-time prediction, and designing a user-friendly frontend using HTML and CSS. The system processes user input, loads the pre-trained model, and instantly displays the probability of success, demonstrating the integration of machine learning and web technologies for intelligent business analytics.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/>
          </a:p>
          <a:p>
            <a:endParaRPr lang="en-US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D50EFB-681A-4E12-67A0-F20DE8E3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219200"/>
            <a:ext cx="7621905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Internship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B3FFE62-6BB1-B5BA-6B3B-D3C172D47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1057" y="2697602"/>
            <a:ext cx="1064586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Things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AI &amp; ML: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Gained a strong understanding of Artificial Intelligence and Machine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concepts.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 Development: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and trained models for the project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“Startup Success Probability Estimator.”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Web Development: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Developed web applications integrated with machine learning models using Flask.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Design: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Designed interactive user interfaces using HTML, CSS, and Flask templates..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Learned techniques to improve model accuracy and understand real-world ML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&amp; Analytical Skills: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Enhanced problem-solving and logical thinking through hands-on project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Skills: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Improved teamwork, communication, and presentation abilities through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tasks.</a:t>
            </a:r>
          </a:p>
        </p:txBody>
      </p:sp>
    </p:spTree>
    <p:extLst>
      <p:ext uri="{BB962C8B-B14F-4D97-AF65-F5344CB8AC3E}">
        <p14:creationId xmlns:p14="http://schemas.microsoft.com/office/powerpoint/2010/main" val="3413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1371600"/>
            <a:ext cx="3976370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z="3600" spc="-3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41057" y="2929930"/>
            <a:ext cx="9004935" cy="474489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4F62AF-A29F-D022-E071-636B8CE96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089775"/>
              </p:ext>
            </p:extLst>
          </p:nvPr>
        </p:nvGraphicFramePr>
        <p:xfrm>
          <a:off x="969905" y="2743200"/>
          <a:ext cx="8747237" cy="3826116"/>
        </p:xfrm>
        <a:graphic>
          <a:graphicData uri="http://schemas.openxmlformats.org/drawingml/2006/table">
            <a:tbl>
              <a:tblPr/>
              <a:tblGrid>
                <a:gridCol w="4367165">
                  <a:extLst>
                    <a:ext uri="{9D8B030D-6E8A-4147-A177-3AD203B41FA5}">
                      <a16:colId xmlns:a16="http://schemas.microsoft.com/office/drawing/2014/main" val="3574666836"/>
                    </a:ext>
                  </a:extLst>
                </a:gridCol>
                <a:gridCol w="4380072">
                  <a:extLst>
                    <a:ext uri="{9D8B030D-6E8A-4147-A177-3AD203B41FA5}">
                      <a16:colId xmlns:a16="http://schemas.microsoft.com/office/drawing/2014/main" val="3454942131"/>
                    </a:ext>
                  </a:extLst>
                </a:gridCol>
              </a:tblGrid>
              <a:tr h="225949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Module/Concept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239991"/>
                  </a:ext>
                </a:extLst>
              </a:tr>
              <a:tr h="44751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to AI and ML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Learned the basic principles of Artificial Intelligence and Machine Learning, their types, and real-world applications. Explored how data drives model training and evaluation.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618292"/>
                  </a:ext>
                </a:extLst>
              </a:tr>
              <a:tr h="447513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Algorithms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various ML algorithms — Linear Regression, Logistic Regression, KNN, Naive Bayes, Decision Tree, Random Forest, and SVM — and understood where each is best applied.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055479"/>
                  </a:ext>
                </a:extLst>
              </a:tr>
              <a:tr h="36319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Supervised vs. Unsupervised Learning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Gained conceptual clarity on classification, regression, and clustering techniques, differentiating between supervised and unsupervised models.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965397"/>
                  </a:ext>
                </a:extLst>
              </a:tr>
              <a:tr h="36319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Selection &amp; Problem Matching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Understood how to select suitable models based on problem type (classification or regression) and evaluated trade-offs between accuracy and complexity.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840351"/>
                  </a:ext>
                </a:extLst>
              </a:tr>
              <a:tr h="36319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 (SVM)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Learned the theory of hyperplanes, margins, and kernel functions. Applied SVM for classification tasks and explored its use in image and text classification.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1006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15428-349C-7A67-AFF9-B34B5B8D05E1}"/>
              </a:ext>
            </a:extLst>
          </p:cNvPr>
          <p:cNvSpPr txBox="1"/>
          <p:nvPr/>
        </p:nvSpPr>
        <p:spPr>
          <a:xfrm>
            <a:off x="1676400" y="419100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C25B8D-9522-2A1B-4C7D-A771493ED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62200" y="1295400"/>
            <a:ext cx="9755505" cy="553998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TASKS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43E312-6430-D3E3-CC5B-4D3A0FDCA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622989"/>
              </p:ext>
            </p:extLst>
          </p:nvPr>
        </p:nvGraphicFramePr>
        <p:xfrm>
          <a:off x="848431" y="3124200"/>
          <a:ext cx="8382000" cy="2832939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328423014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292411980"/>
                    </a:ext>
                  </a:extLst>
                </a:gridCol>
              </a:tblGrid>
              <a:tr h="10939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Module/Concept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828328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Neighbors (KNN)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KNN using Euclidean distance. Manually calculated distances between data points and predicted outcomes using majority voting. Learned how K value affects model accuracy.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422349"/>
                  </a:ext>
                </a:extLst>
              </a:tr>
              <a:tr h="343155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and visualized Decision Tree models for classification. Understood feature selection, entropy, Gini index, and how tree depth impacts overfitting.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165789"/>
                  </a:ext>
                </a:extLst>
              </a:tr>
              <a:tr h="422826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Algorithm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ensemble learning and implemented Random Forests to improve prediction accuracy. Understood bagging, voting, and how multiple trees reduce variance.</a:t>
                      </a: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278081"/>
                  </a:ext>
                </a:extLst>
              </a:tr>
              <a:tr h="343155"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087" marR="28087" marT="14043" marB="140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862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914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BB70C8-0C1B-1E1C-D605-CFCF155A0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" y="0"/>
            <a:ext cx="12190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69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9FCF1D-CD75-0B84-5F60-11A970107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80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09DB1-F23B-413C-6A3E-5FB7C8E8E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"/>
            <a:ext cx="12192000" cy="68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18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548B0-C78A-7860-6EF3-F4BEE0F4B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429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0200" y="838200"/>
            <a:ext cx="11891962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2800350" algn="ctr">
              <a:lnSpc>
                <a:spcPct val="100000"/>
              </a:lnSpc>
              <a:spcBef>
                <a:spcPts val="130"/>
              </a:spcBef>
            </a:pPr>
            <a:r>
              <a:rPr lang="en-US" sz="3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Proposal-Title &amp; Objective</a:t>
            </a:r>
            <a:endParaRPr sz="3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CC02A6-042D-6BEE-E5EE-AE87C2231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709447"/>
            <a:ext cx="926086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Startup Success Probability Estimator – AI Web App using Machine Learning and Flask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sz="3600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600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</a:t>
            </a:r>
            <a:endParaRPr sz="3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B2E12C6-6B56-7CED-C29D-AF6078D20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56" y="2971800"/>
            <a:ext cx="1017939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a startup’s success probability using key factors like idea, team, funding,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market potential.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and evaluate a machine learning model to generate accurate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 percentage estimates.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founders and investors in making smart, data-driven business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257008"/>
            <a:ext cx="12192000" cy="2672080"/>
            <a:chOff x="0" y="0"/>
            <a:chExt cx="12192000" cy="2672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531" y="0"/>
              <a:ext cx="11768234" cy="26718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2543175"/>
            </a:xfrm>
            <a:custGeom>
              <a:avLst/>
              <a:gdLst/>
              <a:ahLst/>
              <a:cxnLst/>
              <a:rect l="l" t="t" r="r" b="b"/>
              <a:pathLst>
                <a:path w="12192000" h="2543175">
                  <a:moveTo>
                    <a:pt x="12192000" y="0"/>
                  </a:moveTo>
                  <a:lnTo>
                    <a:pt x="0" y="0"/>
                  </a:lnTo>
                  <a:lnTo>
                    <a:pt x="0" y="2543175"/>
                  </a:lnTo>
                  <a:lnTo>
                    <a:pt x="12192000" y="254317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649075" y="5638800"/>
            <a:ext cx="38100" cy="599440"/>
          </a:xfrm>
          <a:custGeom>
            <a:avLst/>
            <a:gdLst/>
            <a:ahLst/>
            <a:cxnLst/>
            <a:rect l="l" t="t" r="r" b="b"/>
            <a:pathLst>
              <a:path w="38100" h="599439">
                <a:moveTo>
                  <a:pt x="38100" y="0"/>
                </a:moveTo>
                <a:lnTo>
                  <a:pt x="0" y="0"/>
                </a:lnTo>
                <a:lnTo>
                  <a:pt x="0" y="599071"/>
                </a:lnTo>
                <a:lnTo>
                  <a:pt x="38100" y="599071"/>
                </a:lnTo>
                <a:lnTo>
                  <a:pt x="38100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1057" y="1191005"/>
            <a:ext cx="2066925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600" spc="-1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AD4A6-AB2D-B2F1-F354-8AEC45852654}"/>
              </a:ext>
            </a:extLst>
          </p:cNvPr>
          <p:cNvSpPr txBox="1"/>
          <p:nvPr/>
        </p:nvSpPr>
        <p:spPr>
          <a:xfrm>
            <a:off x="990600" y="2622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A4B1BD5-3A20-4295-6A3F-6303CBB43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45093"/>
            <a:ext cx="977062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Startup Success Probability Estimator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application developed using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and Flask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help entrepreneurs assess their startup’s chances of success. It takes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 innovation, team strength, funding level, and market potential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predicts a success probability using a machine learning model. The system provides a quick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interactive way for users to analyze feasibility and make data-driven decisions. Built with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HTML, CSS, and 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project delivers instant, accurate, and user-friendly success predictions.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066800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3600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600" spc="-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600" spc="-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3600" spc="-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63EAB-D98E-CCD4-5E1F-89392249A675}"/>
              </a:ext>
            </a:extLst>
          </p:cNvPr>
          <p:cNvSpPr txBox="1"/>
          <p:nvPr/>
        </p:nvSpPr>
        <p:spPr>
          <a:xfrm>
            <a:off x="685800" y="2819400"/>
            <a:ext cx="10820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system: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Evaluation by Experts or Investors: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subjective and depends on personal judgment; time-consuming process; lacks consistency and data-driven accuracy in decision-making.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Spreadsheet or Rule-Based Scoring Systems: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fixed weights and manual calculations; cannot handle complex relationships between factors; prone to human error and not scalable for large datasets.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Machine Learning Models (Without Web Integration):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technical knowledge to operate; not accessible to non-technical users; lack real-time interaction and a user-friendly interface for easy evaluation.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771" y="1143000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3600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600" spc="-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600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43A54-CDDC-243C-DB0D-294F06428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057" y="2763940"/>
            <a:ext cx="9004935" cy="3377848"/>
          </a:xfrm>
        </p:spPr>
        <p:txBody>
          <a:bodyPr/>
          <a:lstStyle/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(Startup Success Probability Estimator):</a:t>
            </a:r>
          </a:p>
          <a:p>
            <a:endParaRPr lang="en-US" sz="18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Prediction: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trained Logistic Regression model to predict a startup’s success probability based on measurable factors such as idea innovation, team strength, funding level, and market potential.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instant prediction results through a web interface, allowing users to get success estimates immediately after submitting their inputs.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with a simple and interactive web layout using HTML and CSS, making it easy for non-technical users to access and understand results.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82D2-CECA-0316-CD77-D0B21565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1371600"/>
            <a:ext cx="9755505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US" sz="3600"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3600" spc="-4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3600" spc="-4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6D3F4-4DC6-B3EE-9C15-3FF72BBD4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057" y="2590800"/>
            <a:ext cx="9004935" cy="2546851"/>
          </a:xfrm>
        </p:spPr>
        <p:txBody>
          <a:bodyPr/>
          <a:lstStyle/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(Startup Success Probability Estimator):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and Accessible: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open-source tools like Python, Flask, and Scikit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-learn, requiring no specialized hardware or paid software.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Reliable: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Eliminates human bias by generating consistent, data-driven outcomes that support entrepreneurs and investors in making informed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796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sz="3600" spc="-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600" spc="-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3600" spc="-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54900A-98B9-88D9-85A2-F8B4948E27B0}"/>
              </a:ext>
            </a:extLst>
          </p:cNvPr>
          <p:cNvSpPr txBox="1"/>
          <p:nvPr/>
        </p:nvSpPr>
        <p:spPr>
          <a:xfrm>
            <a:off x="835977" y="2590800"/>
            <a:ext cx="18473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E9A8E5-4969-F19A-EA24-AB697F01A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554328"/>
              </p:ext>
            </p:extLst>
          </p:nvPr>
        </p:nvGraphicFramePr>
        <p:xfrm>
          <a:off x="1752600" y="2743200"/>
          <a:ext cx="8411106" cy="3482417"/>
        </p:xfrm>
        <a:graphic>
          <a:graphicData uri="http://schemas.openxmlformats.org/drawingml/2006/table">
            <a:tbl>
              <a:tblPr/>
              <a:tblGrid>
                <a:gridCol w="2803702">
                  <a:extLst>
                    <a:ext uri="{9D8B030D-6E8A-4147-A177-3AD203B41FA5}">
                      <a16:colId xmlns:a16="http://schemas.microsoft.com/office/drawing/2014/main" val="2011165687"/>
                    </a:ext>
                  </a:extLst>
                </a:gridCol>
                <a:gridCol w="2803702">
                  <a:extLst>
                    <a:ext uri="{9D8B030D-6E8A-4147-A177-3AD203B41FA5}">
                      <a16:colId xmlns:a16="http://schemas.microsoft.com/office/drawing/2014/main" val="1996626523"/>
                    </a:ext>
                  </a:extLst>
                </a:gridCol>
                <a:gridCol w="2803702">
                  <a:extLst>
                    <a:ext uri="{9D8B030D-6E8A-4147-A177-3AD203B41FA5}">
                      <a16:colId xmlns:a16="http://schemas.microsoft.com/office/drawing/2014/main" val="1543755519"/>
                    </a:ext>
                  </a:extLst>
                </a:gridCol>
              </a:tblGrid>
              <a:tr h="287439"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/ Tool</a:t>
                      </a:r>
                      <a:endParaRPr lang="en-US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/ Use</a:t>
                      </a:r>
                      <a:endParaRPr lang="en-US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316770"/>
                  </a:ext>
                </a:extLst>
              </a:tr>
              <a:tr h="937411"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US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 / Computer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model training, coding, and testing the web application. Minimum 4GB RAM (8GB recommended).</a:t>
                      </a: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493217"/>
                  </a:ext>
                </a:extLst>
              </a:tr>
              <a:tr h="937411"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US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 (Intel i3 or higher)</a:t>
                      </a:r>
                      <a:endParaRPr lang="en-US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for smooth execution of Python scripts and machine learning model computations.</a:t>
                      </a: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186648"/>
                  </a:ext>
                </a:extLst>
              </a:tr>
              <a:tr h="720754"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US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Storage: 100GB (free space)</a:t>
                      </a:r>
                      <a:endParaRPr lang="en-US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store datasets, model files, and project dependencies.</a:t>
                      </a: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54005"/>
                  </a:ext>
                </a:extLst>
              </a:tr>
              <a:tr h="504096">
                <a:tc>
                  <a:txBody>
                    <a:bodyPr/>
                    <a:lstStyle/>
                    <a:p>
                      <a:r>
                        <a:rPr lang="en-US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US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/ Display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real-time testing and visualization of web outputs.</a:t>
                      </a:r>
                    </a:p>
                  </a:txBody>
                  <a:tcPr marL="74685" marR="74685" marT="37342" marB="373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7370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5977" y="990600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sz="3600" spc="-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600" spc="-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sz="3600" spc="-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54900A-98B9-88D9-85A2-F8B4948E27B0}"/>
              </a:ext>
            </a:extLst>
          </p:cNvPr>
          <p:cNvSpPr txBox="1"/>
          <p:nvPr/>
        </p:nvSpPr>
        <p:spPr>
          <a:xfrm>
            <a:off x="835977" y="2590800"/>
            <a:ext cx="18473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E9A8E5-4969-F19A-EA24-AB697F01A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42681"/>
              </p:ext>
            </p:extLst>
          </p:nvPr>
        </p:nvGraphicFramePr>
        <p:xfrm>
          <a:off x="1752600" y="2743200"/>
          <a:ext cx="2803702" cy="365760"/>
        </p:xfrm>
        <a:graphic>
          <a:graphicData uri="http://schemas.openxmlformats.org/drawingml/2006/table">
            <a:tbl>
              <a:tblPr/>
              <a:tblGrid>
                <a:gridCol w="2803702">
                  <a:extLst>
                    <a:ext uri="{9D8B030D-6E8A-4147-A177-3AD203B41FA5}">
                      <a16:colId xmlns:a16="http://schemas.microsoft.com/office/drawing/2014/main" val="20111656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3167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904830-0A7E-0F63-FA86-6EABED727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426719"/>
              </p:ext>
            </p:extLst>
          </p:nvPr>
        </p:nvGraphicFramePr>
        <p:xfrm>
          <a:off x="1229133" y="2569029"/>
          <a:ext cx="9615141" cy="4178135"/>
        </p:xfrm>
        <a:graphic>
          <a:graphicData uri="http://schemas.openxmlformats.org/drawingml/2006/table">
            <a:tbl>
              <a:tblPr/>
              <a:tblGrid>
                <a:gridCol w="3205047">
                  <a:extLst>
                    <a:ext uri="{9D8B030D-6E8A-4147-A177-3AD203B41FA5}">
                      <a16:colId xmlns:a16="http://schemas.microsoft.com/office/drawing/2014/main" val="2803176499"/>
                    </a:ext>
                  </a:extLst>
                </a:gridCol>
                <a:gridCol w="3205047">
                  <a:extLst>
                    <a:ext uri="{9D8B030D-6E8A-4147-A177-3AD203B41FA5}">
                      <a16:colId xmlns:a16="http://schemas.microsoft.com/office/drawing/2014/main" val="4192492"/>
                    </a:ext>
                  </a:extLst>
                </a:gridCol>
                <a:gridCol w="3205047">
                  <a:extLst>
                    <a:ext uri="{9D8B030D-6E8A-4147-A177-3AD203B41FA5}">
                      <a16:colId xmlns:a16="http://schemas.microsoft.com/office/drawing/2014/main" val="1609075152"/>
                    </a:ext>
                  </a:extLst>
                </a:gridCol>
              </a:tblGrid>
              <a:tr h="28097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 / Tool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/ Use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105029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HANDLING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NumPy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data handling, cleaning, and basic computations.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519011"/>
                  </a:ext>
                </a:extLst>
              </a:tr>
              <a:tr h="511771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FRAMEWORK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Scikit-learn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building and testing the Logistic Regression model.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0801643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STORAGE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Pickle (.</a:t>
                      </a:r>
                      <a:r>
                        <a:rPr lang="en-US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pkl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save and reload the trained machine learning model.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920874"/>
                  </a:ext>
                </a:extLst>
              </a:tr>
              <a:tr h="572855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FRAMEWORK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the model into a web-based prediction interface.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01667"/>
                  </a:ext>
                </a:extLst>
              </a:tr>
              <a:tr h="511771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FRONT-END DESIGN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 CSS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creating and styling the user interface.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930635"/>
                  </a:ext>
                </a:extLst>
              </a:tr>
              <a:tr h="511771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Matplotlib, Seaborn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visualizing results and performance (optional).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399066"/>
                  </a:ext>
                </a:extLst>
              </a:tr>
              <a:tr h="511771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/ GitHub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version control and storing project code online.</a:t>
                      </a:r>
                    </a:p>
                  </a:txBody>
                  <a:tcPr marL="53002" marR="53002" marT="26501" marB="265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258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424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600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7" name="Picture 6" descr="A diagram of data collection layers&#10;&#10;Description automatically generated">
            <a:extLst>
              <a:ext uri="{FF2B5EF4-FFF2-40B4-BE49-F238E27FC236}">
                <a16:creationId xmlns:a16="http://schemas.microsoft.com/office/drawing/2014/main" id="{67C2CD3B-68DA-1233-304B-E3AD3D858C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611505"/>
            <a:ext cx="4159117" cy="41591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r>
              <a:rPr sz="3600" spc="-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3600"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600" spc="-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19004-36AB-BFC0-6124-C197A5DA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057" y="2623627"/>
            <a:ext cx="9004935" cy="402417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Processing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 and NumPy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reading, cleaning, and preparing startup data for model training and analysis.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Machine Learning Model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(Scikit-learn)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Predicts the probability of a startup’s success based on input features like idea, team, funding,       and market potential.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Model Saving and Loading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Pickle (.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Saves the trained model for reuse, allowing predictions without retraining each time.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E7F80-7D29-06D1-F2B2-1FECE3A867FE}"/>
              </a:ext>
            </a:extLst>
          </p:cNvPr>
          <p:cNvSpPr txBox="1"/>
          <p:nvPr/>
        </p:nvSpPr>
        <p:spPr>
          <a:xfrm>
            <a:off x="3048000" y="3358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691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r>
              <a:rPr sz="3600" spc="-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3600" spc="-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600" spc="-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19004-36AB-BFC0-6124-C197A5DA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057" y="2623627"/>
            <a:ext cx="9004935" cy="32855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Web Application Integration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Framework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Connects the machine learning model to a web interface for real-time user interaction and predictions.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User Interface Design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 and CSS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a clean and responsive web page for users to input startup details and view results instantly.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E7F80-7D29-06D1-F2B2-1FECE3A867FE}"/>
              </a:ext>
            </a:extLst>
          </p:cNvPr>
          <p:cNvSpPr txBox="1"/>
          <p:nvPr/>
        </p:nvSpPr>
        <p:spPr>
          <a:xfrm>
            <a:off x="3048000" y="3358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. 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6993-BB69-F30F-1003-66ED3AD17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019" y="1143000"/>
            <a:ext cx="9605962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Sample Screenshots &amp;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28EAAE-093F-B85F-0754-7E3CBECCB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8" y="2623627"/>
            <a:ext cx="3581400" cy="4034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F0FDFF-8CC6-CB97-348F-B5884266E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747619"/>
            <a:ext cx="5384116" cy="354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995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CFC-3B58-6E57-26E8-C79AF760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855027"/>
            <a:ext cx="9755505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Sample Screenshots &amp; Code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C4303-BB88-2B6B-AE5F-3D53E9C9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628" b="35579"/>
          <a:stretch/>
        </p:blipFill>
        <p:spPr>
          <a:xfrm>
            <a:off x="609600" y="3124200"/>
            <a:ext cx="4522719" cy="25579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435C71-65F8-1FF5-9773-0EA23AB21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124200"/>
            <a:ext cx="5460930" cy="25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67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DCFC-3B58-6E57-26E8-C79AF760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855027"/>
            <a:ext cx="9755505" cy="553998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Sample Screenshots &amp; Code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B24CC-DAE3-1D70-D646-41ADF3A55A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" r="848" b="38771"/>
          <a:stretch/>
        </p:blipFill>
        <p:spPr>
          <a:xfrm>
            <a:off x="228600" y="3500147"/>
            <a:ext cx="6019800" cy="228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28FD74-BE78-E475-9430-FDEAD742A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538" y="3432313"/>
            <a:ext cx="5521053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17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1066800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75C463-EBC0-5C60-3D2E-86A40E6E797C}"/>
              </a:ext>
            </a:extLst>
          </p:cNvPr>
          <p:cNvSpPr txBox="1"/>
          <p:nvPr/>
        </p:nvSpPr>
        <p:spPr>
          <a:xfrm>
            <a:off x="841056" y="2931658"/>
            <a:ext cx="108937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 Success Probability Estimator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successfully demonstrated the integration of Machine Learning with web technologies to predict startup success rates efficiently. By combining Logistic Regression with a Flask-based web interface, the system provides a reliable, data-driven method for assessing business potential. The application delivers real-time predictions through a simple and user-friendly interface, helping entrepreneurs and investors make informed decisions. Overall, the project achieved its goal of creating an intelligent, accessible, and practical tool for startup evaluation using modern AI techniques.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1057" y="855027"/>
            <a:ext cx="9755505" cy="909928"/>
          </a:xfrm>
          <a:prstGeom prst="rect">
            <a:avLst/>
          </a:prstGeom>
        </p:spPr>
        <p:txBody>
          <a:bodyPr vert="horz" wrap="square" lIns="0" tIns="352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6E25A-09F9-FEA1-FB1E-B916E04F2E7A}"/>
              </a:ext>
            </a:extLst>
          </p:cNvPr>
          <p:cNvSpPr txBox="1"/>
          <p:nvPr/>
        </p:nvSpPr>
        <p:spPr>
          <a:xfrm>
            <a:off x="609600" y="28956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https://www.kaggle.com/</a:t>
            </a:r>
          </a:p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https://pandas.pydata.org/</a:t>
            </a:r>
          </a:p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https://scikit-learn.org/</a:t>
            </a:r>
          </a:p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https://www.geeksforgeeks.org/</a:t>
            </a:r>
          </a:p>
          <a:p>
            <a:pPr marL="305435" indent="-305435" eaLnBrk="1" fontAlgn="auto" hangingPunct="1">
              <a:defRPr/>
            </a:pPr>
            <a:r>
              <a:rPr lang="en-IN" sz="1800" b="1" dirty="0">
                <a:solidFill>
                  <a:srgbClr val="0F0F0F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- https://www.w3schools.com/python/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</TotalTime>
  <Words>1661</Words>
  <Application>Microsoft Office PowerPoint</Application>
  <PresentationFormat>Widescreen</PresentationFormat>
  <Paragraphs>155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Tahoma</vt:lpstr>
      <vt:lpstr>Times New Roman</vt:lpstr>
      <vt:lpstr>Office Theme</vt:lpstr>
      <vt:lpstr>INTERNSHIP REPORT&amp;PROJECT REVIEW-1</vt:lpstr>
      <vt:lpstr>ABOUT INDUSTRY/ORGANIZATION DETAILS</vt:lpstr>
      <vt:lpstr>Internship Certificate</vt:lpstr>
      <vt:lpstr>My Internship</vt:lpstr>
      <vt:lpstr>My Internship</vt:lpstr>
      <vt:lpstr>SPECIFIC TASKS</vt:lpstr>
      <vt:lpstr>SPECIFIC TASKS</vt:lpstr>
      <vt:lpstr>PowerPoint Presentation</vt:lpstr>
      <vt:lpstr>PowerPoint Presentation</vt:lpstr>
      <vt:lpstr>PowerPoint Presentation</vt:lpstr>
      <vt:lpstr>PowerPoint Presentation</vt:lpstr>
      <vt:lpstr>The Project Proposal-Title &amp; Objective</vt:lpstr>
      <vt:lpstr>Objective of the Project</vt:lpstr>
      <vt:lpstr>PowerPoint Presentation</vt:lpstr>
      <vt:lpstr>Existing system with its disadvantages</vt:lpstr>
      <vt:lpstr>   Proposed system with advantages</vt:lpstr>
      <vt:lpstr>Proposed system with advantages</vt:lpstr>
      <vt:lpstr>Hardware &amp; Software Requirements</vt:lpstr>
      <vt:lpstr>Hardware &amp; Software Requirements</vt:lpstr>
      <vt:lpstr>System Architecture</vt:lpstr>
      <vt:lpstr>Methodologies Used for Implementation</vt:lpstr>
      <vt:lpstr>Methodologies Used for Implementation</vt:lpstr>
      <vt:lpstr>Project Sample Screenshots &amp; Code</vt:lpstr>
      <vt:lpstr>Project Sample Screenshots &amp; Code</vt:lpstr>
      <vt:lpstr>Project Sample Screenshots &amp; Code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BugsBunny</dc:creator>
  <cp:lastModifiedBy>NICHITHA SREE CHUNCHU</cp:lastModifiedBy>
  <cp:revision>6</cp:revision>
  <dcterms:created xsi:type="dcterms:W3CDTF">2025-10-16T13:56:41Z</dcterms:created>
  <dcterms:modified xsi:type="dcterms:W3CDTF">2025-11-02T17:43:10Z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2025-10-13T00:00:00Z</vt:filetime>
  </property>
  <property fmtid="{D5CDD505-2E9C-101B-9397-08002B2CF9AE}" pid="3" name="LastSaved">
    <vt:filetime>2025-10-16T00:00:00Z</vt:filetime>
  </property>
</Properties>
</file>